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6" r:id="rId8"/>
    <p:sldId id="267" r:id="rId9"/>
    <p:sldId id="268" r:id="rId10"/>
    <p:sldId id="269" r:id="rId11"/>
    <p:sldId id="271" r:id="rId12"/>
    <p:sldId id="276" r:id="rId13"/>
    <p:sldId id="270" r:id="rId14"/>
    <p:sldId id="273" r:id="rId15"/>
    <p:sldId id="275" r:id="rId16"/>
    <p:sldId id="274" r:id="rId17"/>
    <p:sldId id="260" r:id="rId18"/>
    <p:sldId id="261" r:id="rId19"/>
    <p:sldId id="262" r:id="rId20"/>
    <p:sldId id="263" r:id="rId21"/>
    <p:sldId id="264" r:id="rId22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AEEC1EA-F0CD-41B7-B2BD-CACA58EBB8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23c1f0b0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23c1f0b0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23c1f0b0_2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e23c1f0b0_2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e23c1f0b0_2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e23c1f0b0_2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e23c1f0b0_2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e23c1f0b0_2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23c1f0b0_2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23c1f0b0_2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e23c1f0b0_2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e23c1f0b0_2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e23c1f0b0_2_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e23c1f0b0_2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e23c1f0b0_2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e23c1f0b0_2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00"/>
              <a:t>HVI: A New Color Space for Low-light Image Enhancement</a:t>
            </a:r>
            <a:endParaRPr sz="3600"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NYCU Group 2</a:t>
            </a:r>
            <a:endParaRPr 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Motivation</a:t>
            </a:r>
            <a:endParaRPr 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Related work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/>
              <a:t>M</a:t>
            </a:r>
            <a:r>
              <a:rPr lang="zh-TW"/>
              <a:t>ethodology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Outline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090" y="2884805"/>
            <a:ext cx="4683125" cy="1684020"/>
          </a:xfrm>
        </p:spPr>
        <p:txBody>
          <a:bodyPr>
            <a:normAutofit lnSpcReduction="10000"/>
          </a:bodyPr>
          <a:lstStyle/>
          <a:p>
            <a:pPr marL="596900" lvl="1" indent="0">
              <a:buNone/>
            </a:pPr>
          </a:p>
        </p:txBody>
      </p:sp>
      <p:sp>
        <p:nvSpPr>
          <p:cNvPr id="4" name="文本框 3"/>
          <p:cNvSpPr txBox="1"/>
          <p:nvPr/>
        </p:nvSpPr>
        <p:spPr>
          <a:xfrm>
            <a:off x="885190" y="1220470"/>
            <a:ext cx="75457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96900" lvl="1" indent="0">
              <a:buNone/>
            </a:pPr>
            <a:r>
              <a:rPr lang="en-US" sz="2400">
                <a:sym typeface="+mn-ea"/>
              </a:rPr>
              <a:t>- </a:t>
            </a:r>
            <a:r>
              <a:rPr sz="2400">
                <a:sym typeface="+mn-ea"/>
              </a:rPr>
              <a:t>HVI Color Space Construction (Core Ideas)</a:t>
            </a:r>
            <a:endParaRPr sz="2400">
              <a:sym typeface="+mn-ea"/>
            </a:endParaRPr>
          </a:p>
          <a:p>
            <a:pPr marL="596900" lvl="1" indent="0">
              <a:buNone/>
            </a:pPr>
            <a:endParaRPr sz="2400">
              <a:sym typeface="+mn-ea"/>
            </a:endParaRPr>
          </a:p>
          <a:p>
            <a:pPr marL="596900" lvl="1" indent="0">
              <a:buNone/>
            </a:pPr>
            <a:r>
              <a:rPr lang="en-US" altLang="zh-CN" sz="2400">
                <a:sym typeface="+mn-ea"/>
              </a:rPr>
              <a:t>- Dual-branch Enhancement Network</a:t>
            </a:r>
            <a:endParaRPr lang="en-US" altLang="zh-CN" sz="2400">
              <a:sym typeface="+mn-ea"/>
            </a:endParaRPr>
          </a:p>
          <a:p>
            <a:pPr marL="596900" lvl="1" indent="0">
              <a:buNone/>
            </a:pPr>
            <a:endParaRPr lang="en-US" altLang="zh-CN" sz="2400">
              <a:sym typeface="+mn-ea"/>
            </a:endParaRPr>
          </a:p>
          <a:p>
            <a:pPr marL="596900" lvl="1" indent="0">
              <a:buNone/>
            </a:pPr>
            <a:r>
              <a:rPr lang="en-US" altLang="zh-CN" sz="2400">
                <a:sym typeface="+mn-ea"/>
              </a:rPr>
              <a:t>- Perceptual-inverse HVI Transformation </a:t>
            </a:r>
            <a:endParaRPr lang="en-US" altLang="zh-CN" sz="2400">
              <a:sym typeface="+mn-ea"/>
            </a:endParaRPr>
          </a:p>
          <a:p>
            <a:pPr marL="596900" lvl="1" indent="0">
              <a:buNone/>
            </a:pP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735" y="899795"/>
            <a:ext cx="7541260" cy="572770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Step 1: Estimate intensity map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5040" y="1594485"/>
            <a:ext cx="4692650" cy="3416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4330" y="185420"/>
            <a:ext cx="5302885" cy="755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800">
                <a:solidFill>
                  <a:srgbClr val="FF0000"/>
                </a:solidFill>
                <a:sym typeface="+mn-ea"/>
              </a:rPr>
              <a:t>HVI Color Space Construction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700" y="182770"/>
            <a:ext cx="8520600" cy="572700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Step 2: Convert to HSV components</a:t>
            </a:r>
            <a:br>
              <a:rPr>
                <a:sym typeface="+mn-ea"/>
              </a:rPr>
            </a:br>
            <a:br>
              <a:rPr>
                <a:sym typeface="+mn-ea"/>
              </a:rPr>
            </a:br>
            <a:r>
              <a:rPr lang="en-US">
                <a:sym typeface="+mn-ea"/>
              </a:rPr>
              <a:t>     </a:t>
            </a:r>
            <a:r>
              <a:rPr>
                <a:sym typeface="+mn-ea"/>
              </a:rPr>
              <a:t>Compute H and S as in standard HSV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8780" y="1580515"/>
            <a:ext cx="566801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Step 3: Polarize the Hue axis</a:t>
            </a:r>
            <a:br>
              <a:rPr>
                <a:sym typeface="+mn-ea"/>
              </a:rPr>
            </a:b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65" y="1345565"/>
            <a:ext cx="4992370" cy="1203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3358" t="7403"/>
          <a:stretch>
            <a:fillRect/>
          </a:stretch>
        </p:blipFill>
        <p:spPr>
          <a:xfrm>
            <a:off x="1281430" y="3709670"/>
            <a:ext cx="5829935" cy="921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9430" y="2875915"/>
            <a:ext cx="5737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solidFill>
                  <a:schemeClr val="dk1"/>
                </a:solidFill>
                <a:sym typeface="+mn-ea"/>
              </a:rPr>
              <a:t>Step 4</a:t>
            </a:r>
            <a:r>
              <a:rPr sz="2400">
                <a:solidFill>
                  <a:schemeClr val="dk1"/>
                </a:solidFill>
                <a:sym typeface="+mn-ea"/>
              </a:rPr>
              <a:t>: Learnable intensity collapse</a:t>
            </a:r>
            <a:endParaRPr sz="2400">
              <a:solidFill>
                <a:schemeClr val="dk1"/>
              </a:solidFill>
              <a:sym typeface="+mn-ea"/>
            </a:endParaRPr>
          </a:p>
        </p:txBody>
      </p:sp>
      <p:pic>
        <p:nvPicPr>
          <p:cNvPr id="13" name="内容占位符 12"/>
          <p:cNvPicPr>
            <a:picLocks noChangeAspect="1"/>
          </p:cNvPicPr>
          <p:nvPr>
            <p:ph idx="1"/>
          </p:nvPr>
        </p:nvPicPr>
        <p:blipFill>
          <a:blip r:embed="rId3"/>
          <a:srcRect l="4617" t="-77" r="8785" b="-1381"/>
          <a:stretch>
            <a:fillRect/>
          </a:stretch>
        </p:blipFill>
        <p:spPr>
          <a:xfrm>
            <a:off x="5437505" y="1461770"/>
            <a:ext cx="3706495" cy="7708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60" y="497205"/>
            <a:ext cx="8204835" cy="3747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olidFill>
                  <a:srgbClr val="FF0000"/>
                </a:solidFill>
              </a:rPr>
              <a:t>HSV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5620" y="1564005"/>
            <a:ext cx="4239895" cy="787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560" y="436245"/>
            <a:ext cx="3352800" cy="742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30" y="369570"/>
            <a:ext cx="3242310" cy="809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635" y="1398270"/>
            <a:ext cx="4259580" cy="1422400"/>
          </a:xfrm>
          <a:prstGeom prst="rect">
            <a:avLst/>
          </a:prstGeom>
        </p:spPr>
      </p:pic>
      <p:pic>
        <p:nvPicPr>
          <p:cNvPr id="8" name="内容占位符 4"/>
          <p:cNvPicPr>
            <a:picLocks noChangeAspect="1"/>
          </p:cNvPicPr>
          <p:nvPr/>
        </p:nvPicPr>
        <p:blipFill>
          <a:blip r:embed="rId5"/>
          <a:srcRect l="28100" r="30738"/>
          <a:stretch>
            <a:fillRect/>
          </a:stretch>
        </p:blipFill>
        <p:spPr>
          <a:xfrm>
            <a:off x="1870710" y="3676650"/>
            <a:ext cx="249745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925" y="3928110"/>
            <a:ext cx="1766570" cy="7340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7350" y="3290570"/>
            <a:ext cx="1411605" cy="637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solidFill>
                  <a:srgbClr val="FF0000"/>
                </a:solidFill>
                <a:sym typeface="+mn-ea"/>
              </a:rPr>
              <a:t>HVI</a:t>
            </a:r>
            <a:endParaRPr lang="en-US" altLang="zh-CN" sz="2800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841375" y="2205355"/>
            <a:ext cx="2470785" cy="1497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4291965" y="2239645"/>
            <a:ext cx="628015" cy="18427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内容占位符 12"/>
          <p:cNvPicPr>
            <a:picLocks noChangeAspect="1"/>
          </p:cNvPicPr>
          <p:nvPr/>
        </p:nvPicPr>
        <p:blipFill>
          <a:blip r:embed="rId7"/>
          <a:srcRect l="4617" t="-77" r="8785" b="-1381"/>
          <a:stretch>
            <a:fillRect/>
          </a:stretch>
        </p:blipFill>
        <p:spPr>
          <a:xfrm>
            <a:off x="3512185" y="2820670"/>
            <a:ext cx="2388235" cy="496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直接箭头连接符 13"/>
          <p:cNvCxnSpPr/>
          <p:nvPr/>
        </p:nvCxnSpPr>
        <p:spPr>
          <a:xfrm>
            <a:off x="6590030" y="963295"/>
            <a:ext cx="151765" cy="3070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Final HVI Representation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rcRect l="28100"/>
          <a:stretch>
            <a:fillRect/>
          </a:stretch>
        </p:blipFill>
        <p:spPr>
          <a:xfrm>
            <a:off x="648335" y="1474470"/>
            <a:ext cx="4362450" cy="1066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040" y="3698240"/>
            <a:ext cx="1766570" cy="7340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92225" y="299783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HVI image can be represent as</a:t>
            </a:r>
            <a:endParaRPr lang="en-US" altLang="zh-CN" sz="2000">
              <a:sym typeface="+mn-ea"/>
            </a:endParaRPr>
          </a:p>
        </p:txBody>
      </p:sp>
      <p:pic>
        <p:nvPicPr>
          <p:cNvPr id="13" name="内容占位符 12"/>
          <p:cNvPicPr>
            <a:picLocks noChangeAspect="1"/>
          </p:cNvPicPr>
          <p:nvPr/>
        </p:nvPicPr>
        <p:blipFill>
          <a:blip r:embed="rId3"/>
          <a:srcRect l="4617" t="-77" r="8785" b="-1381"/>
          <a:stretch>
            <a:fillRect/>
          </a:stretch>
        </p:blipFill>
        <p:spPr>
          <a:xfrm>
            <a:off x="5189220" y="1677670"/>
            <a:ext cx="3706495" cy="77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Dual-branch Enhancement Network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1320" y="1134745"/>
            <a:ext cx="8520430" cy="23183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9460" y="3858895"/>
            <a:ext cx="23406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HV-branch &amp; I-branch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759460" y="44459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LCA</a:t>
            </a:r>
            <a:r>
              <a:rPr lang="zh-CN" altLang="en-US" sz="1600"/>
              <a:t>（</a:t>
            </a:r>
            <a:r>
              <a:rPr lang="en-US" altLang="zh-CN" sz="1600"/>
              <a:t>Lighten Cross-Attention</a:t>
            </a:r>
            <a:r>
              <a:rPr lang="zh-CN" altLang="en-US" sz="1600"/>
              <a:t>）</a:t>
            </a:r>
            <a:endParaRPr lang="zh-CN" alt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olidFill>
                  <a:srgbClr val="FF0000"/>
                </a:solidFill>
              </a:rPr>
              <a:t>Loss Function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1125" y="1152525"/>
            <a:ext cx="6381115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Perceptual-inverse HVI Transformation </a:t>
            </a:r>
            <a:br>
              <a:rPr lang="en-US" altLang="zh-CN">
                <a:solidFill>
                  <a:srgbClr val="FF0000"/>
                </a:solidFill>
                <a:sym typeface="+mn-ea"/>
              </a:rPr>
            </a:b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rcRect l="257" t="6762"/>
          <a:stretch>
            <a:fillRect/>
          </a:stretch>
        </p:blipFill>
        <p:spPr>
          <a:xfrm>
            <a:off x="1607185" y="1433195"/>
            <a:ext cx="5168265" cy="621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18155" t="37310"/>
          <a:stretch>
            <a:fillRect/>
          </a:stretch>
        </p:blipFill>
        <p:spPr>
          <a:xfrm>
            <a:off x="1358900" y="2385060"/>
            <a:ext cx="5916930" cy="20123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</a:t>
            </a:r>
            <a:r>
              <a:rPr lang="zh-TW"/>
              <a:t>xperimental Results</a:t>
            </a:r>
            <a:endParaRPr lang="zh-TW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No adaptive k (Base)</a:t>
            </a:r>
            <a:endParaRPr b="1"/>
          </a:p>
        </p:txBody>
      </p:sp>
      <p:graphicFrame>
        <p:nvGraphicFramePr>
          <p:cNvPr id="81" name="Google Shape;81;p18"/>
          <p:cNvGraphicFramePr/>
          <p:nvPr/>
        </p:nvGraphicFramePr>
        <p:xfrm>
          <a:off x="827575" y="1614550"/>
          <a:ext cx="7933900" cy="3000000"/>
        </p:xfrm>
        <a:graphic>
          <a:graphicData uri="http://schemas.openxmlformats.org/drawingml/2006/table">
            <a:tbl>
              <a:tblPr>
                <a:noFill/>
                <a:tableStyleId>{4AEEC1EA-F0CD-41B7-B2BD-CACA58EBB848}</a:tableStyleId>
              </a:tblPr>
              <a:tblGrid>
                <a:gridCol w="1983475"/>
                <a:gridCol w="1983475"/>
                <a:gridCol w="1983475"/>
                <a:gridCol w="1983475"/>
              </a:tblGrid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Epochs / metric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PSNR(↑)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SSIM(↑)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LPIPS(↓)</a:t>
                      </a:r>
                      <a:endParaRPr b="1"/>
                    </a:p>
                  </a:txBody>
                  <a:tcPr marL="91425" marR="91425" marT="91425" marB="91425"/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19.287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0.723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0.257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100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21.355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0.819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0.148</a:t>
                      </a:r>
                      <a:endParaRPr lang="zh-TW"/>
                    </a:p>
                  </a:txBody>
                  <a:tcPr marL="91425" marR="91425" marT="91425" marB="91425"/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200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22.598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0.843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0.117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300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22.64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0.846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0.1155</a:t>
                      </a:r>
                      <a:endParaRPr lang="zh-TW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Adaptive-k (Proposed)</a:t>
            </a:r>
            <a:endParaRPr b="1"/>
          </a:p>
        </p:txBody>
      </p:sp>
      <p:graphicFrame>
        <p:nvGraphicFramePr>
          <p:cNvPr id="87" name="Google Shape;87;p19"/>
          <p:cNvGraphicFramePr/>
          <p:nvPr/>
        </p:nvGraphicFramePr>
        <p:xfrm>
          <a:off x="827575" y="1614550"/>
          <a:ext cx="7933900" cy="3000000"/>
        </p:xfrm>
        <a:graphic>
          <a:graphicData uri="http://schemas.openxmlformats.org/drawingml/2006/table">
            <a:tbl>
              <a:tblPr>
                <a:noFill/>
                <a:tableStyleId>{4AEEC1EA-F0CD-41B7-B2BD-CACA58EBB848}</a:tableStyleId>
              </a:tblPr>
              <a:tblGrid>
                <a:gridCol w="1983475"/>
                <a:gridCol w="1983475"/>
                <a:gridCol w="1983475"/>
                <a:gridCol w="1983475"/>
              </a:tblGrid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Epochs / metric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PSNR(↑)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SSIM(↑)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LPIPS(↓)</a:t>
                      </a:r>
                      <a:endParaRPr b="1"/>
                    </a:p>
                  </a:txBody>
                  <a:tcPr marL="91425" marR="91425" marT="91425" marB="91425"/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19.924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0.749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0.243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100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21.208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0.812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0.160</a:t>
                      </a:r>
                      <a:endParaRPr lang="zh-TW"/>
                    </a:p>
                  </a:txBody>
                  <a:tcPr marL="91425" marR="91425" marT="91425" marB="91425"/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200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22.134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0.834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0.122</a:t>
                      </a:r>
                      <a:endParaRPr lang="zh-TW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</a:tr>
              <a:tr h="52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300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22.843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0.839</a:t>
                      </a:r>
                      <a:endParaRPr lang="zh-TW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0.117</a:t>
                      </a:r>
                      <a:endParaRPr lang="zh-TW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Visualization</a:t>
            </a:r>
            <a:endParaRPr b="1"/>
          </a:p>
        </p:txBody>
      </p:sp>
      <p:sp>
        <p:nvSpPr>
          <p:cNvPr id="93" name="Google Shape;93;p20"/>
          <p:cNvSpPr txBox="1"/>
          <p:nvPr/>
        </p:nvSpPr>
        <p:spPr>
          <a:xfrm>
            <a:off x="218600" y="2110050"/>
            <a:ext cx="24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B1015"/>
              </a:buClr>
              <a:buSzPts val="1800"/>
              <a:buChar char="-"/>
            </a:pPr>
            <a:r>
              <a:rPr lang="zh-TW" sz="1800" b="1">
                <a:solidFill>
                  <a:srgbClr val="0B1015"/>
                </a:solidFill>
              </a:rPr>
              <a:t>No adaptive-k</a:t>
            </a:r>
            <a:endParaRPr sz="1800" b="1">
              <a:solidFill>
                <a:srgbClr val="0B1015"/>
              </a:solidFill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269525" y="3889238"/>
            <a:ext cx="24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B1015"/>
              </a:buClr>
              <a:buSzPts val="1800"/>
              <a:buChar char="-"/>
            </a:pPr>
            <a:r>
              <a:rPr lang="zh-TW" sz="1800" b="1">
                <a:solidFill>
                  <a:srgbClr val="0B1015"/>
                </a:solidFill>
              </a:rPr>
              <a:t> adaptive-k</a:t>
            </a:r>
            <a:endParaRPr sz="1800" b="1">
              <a:solidFill>
                <a:srgbClr val="0B1015"/>
              </a:solidFill>
            </a:endParaRPr>
          </a:p>
        </p:txBody>
      </p:sp>
      <p:pic>
        <p:nvPicPr>
          <p:cNvPr id="95" name="Google Shape;95;p20" title="adaptive-k-111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42025" y="1457600"/>
            <a:ext cx="5063824" cy="17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 title="no-adaptive-k-11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842025" y="3236800"/>
            <a:ext cx="5063824" cy="1766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 title="11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755275" y="102150"/>
            <a:ext cx="1887675" cy="12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Visualization</a:t>
            </a:r>
            <a:endParaRPr b="1"/>
          </a:p>
        </p:txBody>
      </p:sp>
      <p:pic>
        <p:nvPicPr>
          <p:cNvPr id="103" name="Google Shape;103;p21" title="no-adaptive-1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728825" y="1381900"/>
            <a:ext cx="5103326" cy="178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 title="adaptive-k-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28850" y="3363125"/>
            <a:ext cx="5103300" cy="178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218600" y="2110050"/>
            <a:ext cx="24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B1015"/>
              </a:buClr>
              <a:buSzPts val="1800"/>
              <a:buChar char="-"/>
            </a:pPr>
            <a:r>
              <a:rPr lang="zh-TW" sz="1800" b="1">
                <a:solidFill>
                  <a:srgbClr val="0B1015"/>
                </a:solidFill>
              </a:rPr>
              <a:t>No adaptive-k</a:t>
            </a:r>
            <a:endParaRPr sz="1800" b="1">
              <a:solidFill>
                <a:srgbClr val="0B1015"/>
              </a:solidFill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269525" y="3889238"/>
            <a:ext cx="242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B1015"/>
              </a:buClr>
              <a:buSzPts val="1800"/>
              <a:buChar char="-"/>
            </a:pPr>
            <a:r>
              <a:rPr lang="zh-TW" sz="1800" b="1">
                <a:solidFill>
                  <a:srgbClr val="0B1015"/>
                </a:solidFill>
              </a:rPr>
              <a:t> </a:t>
            </a:r>
            <a:r>
              <a:rPr lang="zh-TW" sz="1800" b="1">
                <a:solidFill>
                  <a:srgbClr val="0B1015"/>
                </a:solidFill>
              </a:rPr>
              <a:t>adaptive-k</a:t>
            </a:r>
            <a:endParaRPr sz="1800" b="1">
              <a:solidFill>
                <a:srgbClr val="0B1015"/>
              </a:solidFill>
            </a:endParaRPr>
          </a:p>
        </p:txBody>
      </p:sp>
      <p:pic>
        <p:nvPicPr>
          <p:cNvPr id="107" name="Google Shape;107;p21" title="2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707200" y="192677"/>
            <a:ext cx="1783851" cy="11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WPS 演示</Application>
  <PresentationFormat/>
  <Paragraphs>145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Arial Unicode MS</vt:lpstr>
      <vt:lpstr>Consolas</vt:lpstr>
      <vt:lpstr>Simple Light</vt:lpstr>
      <vt:lpstr>HVI: A New Color Space for Low-light Image Enhancement</vt:lpstr>
      <vt:lpstr>Motivation</vt:lpstr>
      <vt:lpstr>Related work</vt:lpstr>
      <vt:lpstr>Methodology</vt:lpstr>
      <vt:lpstr>HVI Color Space Construction (Core Ideas)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Experimental Results</vt:lpstr>
      <vt:lpstr>No adaptive k (Base)</vt:lpstr>
      <vt:lpstr>Adaptive-k (Proposed)</vt:lpstr>
      <vt:lpstr>Visualization</vt:lpstr>
      <vt:lpstr>Visualization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HVI: A New Color Space for Low-light Image Enhancement</dc:title>
  <dc:creator/>
  <cp:lastModifiedBy>WPS_1669288072</cp:lastModifiedBy>
  <cp:revision>6</cp:revision>
  <dcterms:created xsi:type="dcterms:W3CDTF">2025-12-07T05:34:32Z</dcterms:created>
  <dcterms:modified xsi:type="dcterms:W3CDTF">2025-12-07T06:48:50Z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5E9FDDEF11994B74A5FD9046D1948857_12</vt:lpwstr>
  </property>
  <property fmtid="{D5CDD505-2E9C-101B-9397-08002B2CF9AE}" pid="3" name="KSOProductBuildVer">
    <vt:lpwstr>2052-12.1.0.23542</vt:lpwstr>
  </property>
</Properties>
</file>